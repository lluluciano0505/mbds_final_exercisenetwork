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64008" cy="1920240"/>
          </a:xfrm>
          <a:prstGeom prst="rect">
            <a:avLst/>
          </a:prstGeom>
          <a:solidFill>
            <a:srgbClr val="1A9DC3"/>
          </a:solidFill>
          <a:ln w="12700">
            <a:solidFill>
              <a:srgbClr val="1A9D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132588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You to the Gym?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3232" y="237744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Social Networks &amp; Gym Attendance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Graduate Students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3429000"/>
            <a:ext cx="1828800" cy="914400"/>
          </a:xfrm>
          <a:prstGeom prst="rect">
            <a:avLst/>
          </a:prstGeom>
          <a:solidFill>
            <a:srgbClr val="253D52"/>
          </a:solidFill>
          <a:ln w="12700">
            <a:solidFill>
              <a:srgbClr val="304D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429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41</a:t>
            </a:r>
            <a:endParaRPr lang="en-US" sz="2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participants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16352" y="3429000"/>
            <a:ext cx="1828800" cy="914400"/>
          </a:xfrm>
          <a:prstGeom prst="rect">
            <a:avLst/>
          </a:prstGeom>
          <a:solidFill>
            <a:srgbClr val="253D52"/>
          </a:solidFill>
          <a:ln w="12700">
            <a:solidFill>
              <a:srgbClr val="304D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16352" y="3429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114</a:t>
            </a:r>
            <a:endParaRPr lang="en-US" sz="2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named contacts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919472" y="3429000"/>
            <a:ext cx="1828800" cy="914400"/>
          </a:xfrm>
          <a:prstGeom prst="rect">
            <a:avLst/>
          </a:prstGeom>
          <a:solidFill>
            <a:srgbClr val="253D52"/>
          </a:solidFill>
          <a:ln w="12700">
            <a:solidFill>
              <a:srgbClr val="304D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3429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model types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Part A  ·  OLS Regression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Does network structure predict gym attendance?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26517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68680"/>
            <a:ext cx="2651760" cy="64008"/>
          </a:xfrm>
          <a:prstGeom prst="rect">
            <a:avLst/>
          </a:prstGeom>
          <a:solidFill>
            <a:srgbClr val="1A9DC3"/>
          </a:solidFill>
          <a:ln w="12700">
            <a:solidFill>
              <a:srgbClr val="1A9D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</a:rPr>
              <a:t>M1 · Individual Only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9DC3"/>
                </a:solidFill>
              </a:rPr>
              <a:t>R² = 0.25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Achievement motivation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largest predictor (n.s.)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237744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88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F(3,34) = 3.80 · p=.019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27832" y="868680"/>
            <a:ext cx="26517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868680"/>
            <a:ext cx="2651760" cy="64008"/>
          </a:xfrm>
          <a:prstGeom prst="rect">
            <a:avLst/>
          </a:prstGeom>
          <a:solidFill>
            <a:srgbClr val="1A9DC3"/>
          </a:solidFill>
          <a:ln w="12700">
            <a:solidFill>
              <a:srgbClr val="1A9D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</a:rPr>
              <a:t>M2 · + Network Structure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4992" y="14447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9DC3"/>
                </a:solidFill>
              </a:rPr>
              <a:t>Adj R² = 0.04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64992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Density &amp; net size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add no explanatory power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64992" y="2788920"/>
            <a:ext cx="237744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788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n = 28 · collapses fit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44184" y="868680"/>
            <a:ext cx="26517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44184" y="868680"/>
            <a:ext cx="2651760" cy="64008"/>
          </a:xfrm>
          <a:prstGeom prst="rect">
            <a:avLst/>
          </a:prstGeom>
          <a:solidFill>
            <a:srgbClr val="1A9DC3"/>
          </a:solidFill>
          <a:ln w="12700">
            <a:solidFill>
              <a:srgbClr val="1A9D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</a:rPr>
              <a:t>M3 · + Composition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1344" y="14447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9DC3"/>
                </a:solidFill>
              </a:rPr>
              <a:t>Adj R² = 0.05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81344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Prop. active contacts: β = −1.69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(opposite direction, n.s.)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81344" y="2788920"/>
            <a:ext cx="237744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2788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n = 28 · no improvement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4160520"/>
            <a:ext cx="8321040" cy="658368"/>
          </a:xfrm>
          <a:prstGeom prst="rect">
            <a:avLst/>
          </a:prstGeom>
          <a:solidFill>
            <a:srgbClr val="EBF4FA"/>
          </a:solidFill>
          <a:ln w="12700">
            <a:solidFill>
              <a:srgbClr val="C8DF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16052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D3D"/>
                </a:solidFill>
              </a:rPr>
              <a:t>Takeaway  ·  No network variable significantly predicts gym days. Individual motivation is the only signal at the ego level.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Part B  ·  Multilevel Models (Random Intercept)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What makes a contact motivating?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2377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68680"/>
            <a:ext cx="237744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78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3D"/>
                </a:solidFill>
              </a:rPr>
              <a:t>Null Model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838"/>
                </a:solidFill>
              </a:rPr>
              <a:t>ICC = 29%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of variance lies between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participants — MLM 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justified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868680"/>
            <a:ext cx="56692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17520" y="868680"/>
            <a:ext cx="64008" cy="1325880"/>
          </a:xfrm>
          <a:prstGeom prst="rect">
            <a:avLst/>
          </a:prstGeom>
          <a:solidFill>
            <a:srgbClr val="1A9DC3"/>
          </a:solidFill>
          <a:ln w="12700">
            <a:solidFill>
              <a:srgbClr val="1A9D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60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</a:rPr>
              <a:t>Contact is exercise-active (≥ 4 / 5)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32588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9DC3"/>
                </a:solidFill>
              </a:rPr>
              <a:t>β = +0.84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18745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p &lt; .001 · Model 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17520" y="2331720"/>
            <a:ext cx="56692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17520" y="2331720"/>
            <a:ext cx="64008" cy="1325880"/>
          </a:xfrm>
          <a:prstGeom prst="rect">
            <a:avLst/>
          </a:prstGeom>
          <a:solidFill>
            <a:srgbClr val="1A9DC3"/>
          </a:solidFill>
          <a:ln w="12700">
            <a:solidFill>
              <a:srgbClr val="1A9D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423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</a:rPr>
              <a:t>Interaction frequency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78892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9DC3"/>
                </a:solidFill>
              </a:rPr>
              <a:t>β = +0.14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00400" y="33375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p = .017 · Model 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4160520"/>
            <a:ext cx="8321040" cy="658368"/>
          </a:xfrm>
          <a:prstGeom prst="rect">
            <a:avLst/>
          </a:prstGeom>
          <a:solidFill>
            <a:srgbClr val="EBF4FA"/>
          </a:solidFill>
          <a:ln w="12700">
            <a:solidFill>
              <a:srgbClr val="C8DF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16052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D3D"/>
                </a:solidFill>
              </a:rPr>
              <a:t>Takeaway  ·  Active contacts who interact with you regularly are the strongest motivators — regardless of participant characteristics.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B1"/>
                </a:solidFill>
              </a:rPr>
              <a:t>Part C  ·  ERGM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Do active alters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cluster together?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931920" cy="804672"/>
          </a:xfrm>
          <a:prstGeom prst="rect">
            <a:avLst/>
          </a:prstGeom>
          <a:solidFill>
            <a:srgbClr val="253D52"/>
          </a:solidFill>
          <a:ln w="6350">
            <a:solidFill>
              <a:srgbClr val="304D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746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M1  Edges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20391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3B1"/>
                </a:solidFill>
              </a:rPr>
              <a:t>−3.44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37360" y="2039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Density ≈ 3%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20440" y="20391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AIC 1854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3931920" cy="804672"/>
          </a:xfrm>
          <a:prstGeom prst="rect">
            <a:avLst/>
          </a:prstGeom>
          <a:solidFill>
            <a:srgbClr val="253D52"/>
          </a:solidFill>
          <a:ln w="6350">
            <a:solidFill>
              <a:srgbClr val="304D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066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M2  + nodecov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9992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9DC3"/>
                </a:solidFill>
              </a:rPr>
              <a:t>−0.24***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37360" y="29992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High activity → fewer ties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9992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AIC 1822 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3931920" cy="804672"/>
          </a:xfrm>
          <a:prstGeom prst="rect">
            <a:avLst/>
          </a:prstGeom>
          <a:solidFill>
            <a:srgbClr val="253D52"/>
          </a:solidFill>
          <a:ln w="6350">
            <a:solidFill>
              <a:srgbClr val="304D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66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M3  + absdiff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9593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AE60"/>
                </a:solidFill>
              </a:rPr>
              <a:t>−0.58***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37360" y="3959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Similar activity → tied         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39593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AIC 1763 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20040"/>
            <a:ext cx="0" cy="4572000"/>
          </a:xfrm>
          <a:prstGeom prst="line">
            <a:avLst/>
          </a:prstGeom>
          <a:noFill/>
          <a:ln w="12700">
            <a:solidFill>
              <a:srgbClr val="304D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474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Key Takeaways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83480" y="960120"/>
            <a:ext cx="347472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960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9601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Network structure/composition does not predict gym frequency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(Part A — null result)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1920240"/>
            <a:ext cx="347472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19202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Active contacts + frequent interaction → stronger motivation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(Part B — β = 0.84***, β = 0.14*)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83480" y="2880360"/>
            <a:ext cx="347472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0680" y="28803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Similarly active contacts cluster together (activity homophily)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(Part C — absdiff β = −0.58***)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83480" y="3840480"/>
            <a:ext cx="347472" cy="347472"/>
          </a:xfrm>
          <a:prstGeom prst="rect">
            <a:avLst/>
          </a:prstGeom>
          <a:solidFill>
            <a:srgbClr val="1A9DC3"/>
          </a:solidFill>
          <a:ln w="12700">
            <a:solidFill>
              <a:srgbClr val="1A9DC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38404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Exercise support is dyadic, not aggregate — who you interact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with matters more than how many active friends you have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Graduate Network Study  ·  Exploratory Pilot  ·  N = 41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Gets You to the Gym?</dc:title>
  <dc:subject>PptxGenJS Presentation</dc:subject>
  <dc:creator>PptxGenJS</dc:creator>
  <cp:lastModifiedBy>PptxGenJS</cp:lastModifiedBy>
  <cp:revision>1</cp:revision>
  <dcterms:created xsi:type="dcterms:W3CDTF">2026-05-03T18:15:53Z</dcterms:created>
  <dcterms:modified xsi:type="dcterms:W3CDTF">2026-05-03T18:15:53Z</dcterms:modified>
</cp:coreProperties>
</file>